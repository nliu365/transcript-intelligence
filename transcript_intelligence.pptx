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E07B54"/>
          </a:solidFill>
          <a:ln w="12700">
            <a:solidFill>
              <a:srgbClr val="E07B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A8D8EA"/>
                </a:solidFill>
              </a:rPr>
              <a:t>TRANSCRIPT INTELLIGENCE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08760"/>
            <a:ext cx="8046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What 100 Calls Reveal About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Customer Health, Product Risk,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and Team Dynamics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02920" y="3566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Feb – Apr 2026  |  100 Transcripts  |  50+ Hours of Conversation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493008"/>
            <a:ext cx="3657600" cy="0"/>
          </a:xfrm>
          <a:prstGeom prst="line">
            <a:avLst/>
          </a:prstGeom>
          <a:noFill/>
          <a:ln w="19050">
            <a:solidFill>
              <a:srgbClr val="2E86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Ning Liu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Executive Summary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40233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</a:rPr>
              <a:t>Three findings every leader needs to know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D5B"/>
                </a:solidFill>
              </a:rPr>
              <a:t>A single outage touched more than half of all meetings.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The Detect pipeline failure (mid-March 2026) created a ripple across all call types — internal war rooms, support escalations, and renewal conversations. 55/100 meetings referenced it in some 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920240"/>
            <a:ext cx="2468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920240"/>
            <a:ext cx="73152" cy="118872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99339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D5B"/>
                </a:solidFill>
              </a:rPr>
              <a:t>55 / 100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02920" y="25420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meetings touched the Detect outage — 34 as primary focus, 21 as context in renewals/support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920240"/>
            <a:ext cx="2468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920240"/>
            <a:ext cx="73152" cy="1188720"/>
          </a:xfrm>
          <a:prstGeom prst="rect">
            <a:avLst/>
          </a:prstGeom>
          <a:solidFill>
            <a:srgbClr val="48BB78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99339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D5B"/>
                </a:solidFill>
              </a:rPr>
              <a:t>4.12 avg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337560" y="25420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sentiment for Compliance calls — your #1 value driver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1920240"/>
            <a:ext cx="2468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920240"/>
            <a:ext cx="73152" cy="1188720"/>
          </a:xfrm>
          <a:prstGeom prst="rect">
            <a:avLst/>
          </a:prstGeom>
          <a:solidFill>
            <a:srgbClr val="E07B54"/>
          </a:solidFill>
          <a:ln w="12700">
            <a:solidFill>
              <a:srgbClr val="E07B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99339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D5B"/>
                </a:solidFill>
              </a:rPr>
              <a:t>21 accts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172200" y="25420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external meetings carry explicit churn signals (49% of all external calls)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Sentiment scale: 1 (very negative) → 5 (very positive)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Dataset Overview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40233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</a:rPr>
              <a:t>100 transcripts across three distinct call types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D5B"/>
                </a:solidFill>
              </a:rPr>
              <a:t>100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1521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Total meetings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435608"/>
            <a:ext cx="29260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4533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D5B"/>
                </a:solidFill>
              </a:rPr>
              <a:t>3,031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Minutes of conversation (50.5 hours)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157984"/>
            <a:ext cx="29260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2677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D5B"/>
                </a:solidFill>
              </a:rPr>
              <a:t>Feb 3 – Apr 28, 2026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2596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Date range (85-day window)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29260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9900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D5B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5760" y="33192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Call types: Support · External · Internal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602736"/>
            <a:ext cx="29260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71246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D5B"/>
                </a:solidFill>
              </a:rPr>
              <a:t>4–7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40416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Pre-existing topic tags per meeting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4325112"/>
            <a:ext cx="29260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20" name="Image 0" descr="/Users/ningliu/repo/interview-assignment/outputs/01_call_type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0" y="685800"/>
            <a:ext cx="512064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Task 1: Topic / Theme Categorization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40233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</a:rPr>
              <a:t>Why hybrid? Fast, auditable, and the data makes it possible.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777240"/>
            <a:ext cx="2743200" cy="64008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960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B2D5B"/>
                </a:solidFill>
              </a:rPr>
              <a:t>1  EXISTING TOPIC TAGS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32588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Each transcript's pre-processed summary already contains 4–7 topic tags (e.g., "soc 2 audit", "outage remediation"). These are the raw signal.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77724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777240"/>
            <a:ext cx="2743200" cy="64008"/>
          </a:xfrm>
          <a:prstGeom prst="rect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960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B2D5B"/>
                </a:solidFill>
              </a:rPr>
              <a:t>2  KEYWORD MAPPING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132588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We map those tags to 8 high-level themes using curated keyword lists. 100% of meetings classified in the first pass.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77724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777240"/>
            <a:ext cx="2743200" cy="64008"/>
          </a:xfrm>
          <a:prstGeom prst="rect">
            <a:avLst/>
          </a:prstGeom>
          <a:solidFill>
            <a:srgbClr val="E07B54"/>
          </a:solidFill>
          <a:ln w="12700">
            <a:solidFill>
              <a:srgbClr val="E07B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960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B2D5B"/>
                </a:solidFill>
              </a:rPr>
              <a:t>3  MODEL FALLBACK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63640" y="132588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A language model API is invoked only for meetings where keyword score = 0 (none here). Keeps the pipeline fast with every decision traceable.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63240"/>
          <a:ext cx="8412480" cy="1874520"/>
        </p:xfrm>
        <a:graphic>
          <a:graphicData uri="http://schemas.openxmlformats.org/drawingml/2006/table">
            <a:tbl>
              <a:tblPr/>
              <a:tblGrid>
                <a:gridCol w="4754880"/>
                <a:gridCol w="1371600"/>
                <a:gridCol w="2286000"/>
              </a:tblGrid>
              <a:tr h="2677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Theme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Count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Avg Sentiment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5B"/>
                    </a:solidFill>
                  </a:tcPr>
                </a:tc>
              </a:tr>
              <a:tr h="2677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Incident &amp; Outage Response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E3E"/>
                          </a:solidFill>
                        </a:rPr>
                        <a:t>2.64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77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Compliance &amp; Audit Preparation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8BB78"/>
                          </a:solidFill>
                        </a:rPr>
                        <a:t>4.12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77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Renewals &amp; Contract Management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</a:rPr>
                        <a:t>3.56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77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Product Development &amp; Planning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8BB78"/>
                          </a:solidFill>
                        </a:rPr>
                        <a:t>3.90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77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Technical Support &amp; Bug Resolution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E3E"/>
                          </a:solidFill>
                        </a:rPr>
                        <a:t>2.92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77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Competitive Intelligence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E3E"/>
                          </a:solidFill>
                        </a:rPr>
                        <a:t>2.87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Outage Ran Through Everything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D8EA"/>
                </a:solidFill>
              </a:rPr>
              <a:t>55 of 100 meetings mentioned the outage in some context. 34 had it as their primary focus. It reached every call type.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8229600" cy="0"/>
          </a:xfrm>
          <a:prstGeom prst="line">
            <a:avLst/>
          </a:prstGeom>
          <a:noFill/>
          <a:ln w="25400">
            <a:solidFill>
              <a:srgbClr val="2E86A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192" y="1874520"/>
            <a:ext cx="164592" cy="164592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20848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Mar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0" y="2359152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Outage begins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Event pipeline fails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67712" y="1874520"/>
            <a:ext cx="164592" cy="164592"/>
          </a:xfrm>
          <a:prstGeom prst="ellipse">
            <a:avLst/>
          </a:prstGeom>
          <a:solidFill>
            <a:srgbClr val="E07B54"/>
          </a:solidFill>
          <a:ln w="12700">
            <a:solidFill>
              <a:srgbClr val="E07B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74520" y="20848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Mar 15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74520" y="2359152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Internal war room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112 support tickets open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42232" y="1874520"/>
            <a:ext cx="164592" cy="164592"/>
          </a:xfrm>
          <a:prstGeom prst="ellipse">
            <a:avLst/>
          </a:prstGeom>
          <a:solidFill>
            <a:srgbClr val="ED8936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0" y="20848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Mar 16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49040" y="2359152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Remediation plan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Redundant nodes deployed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16752" y="1874520"/>
            <a:ext cx="164592" cy="164592"/>
          </a:xfrm>
          <a:prstGeom prst="ellipse">
            <a:avLst/>
          </a:prstGeom>
          <a:solidFill>
            <a:srgbClr val="ED8936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20848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Mar 18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23560" y="2359152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Customer escalations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Blackridge, Northstar Pharma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891272" y="1874520"/>
            <a:ext cx="164592" cy="164592"/>
          </a:xfrm>
          <a:prstGeom prst="ellipse">
            <a:avLst/>
          </a:prstGeom>
          <a:solidFill>
            <a:srgbClr val="48BB78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0" y="20848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Mar 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0" y="2359152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Post-mortem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Circuit breaker pattern live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246120"/>
            <a:ext cx="2743200" cy="1627632"/>
          </a:xfrm>
          <a:prstGeom prst="rect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2E86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3832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</a:rPr>
              <a:t>Internal  ·  18 meetings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721608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War rooms, engineering sprints, post-mortems, reliability retros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83280" y="3246120"/>
            <a:ext cx="2743200" cy="1627632"/>
          </a:xfrm>
          <a:prstGeom prst="rect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E07B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0440" y="33832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B54"/>
                </a:solidFill>
              </a:rPr>
              <a:t>External  ·  23 meetings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20440" y="3721608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Urgent escalations, renewal conversations poisoned by outage context, competitive pressure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09360" y="3246120"/>
            <a:ext cx="2743200" cy="1627632"/>
          </a:xfrm>
          <a:prstGeom prst="rect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E53E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33832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3E3E"/>
                </a:solidFill>
              </a:rPr>
              <a:t>Support  ·  14 meetings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46520" y="3721608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112 support tickets, 30 from P1/P2 accounts, multiple churn threats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Task 2: Sentiment Analysis by Call Type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40233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</a:rPr>
              <a:t>Front-line support is under visible strain; compliance calls are bright spots.</a:t>
            </a:r>
            <a:endParaRPr lang="en-US" sz="900" dirty="0"/>
          </a:p>
        </p:txBody>
      </p:sp>
      <p:pic>
        <p:nvPicPr>
          <p:cNvPr id="5" name="Image 0" descr="/Users/ningliu/repo/interview-assignment/outputs/03_sentiment_by_call_typ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685800"/>
            <a:ext cx="6400800" cy="4251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0" y="777240"/>
            <a:ext cx="2057400" cy="8686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777240"/>
            <a:ext cx="73152" cy="86868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995160" y="8138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D5B"/>
                </a:solidFill>
              </a:rPr>
              <a:t>2.94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995160" y="117957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Customer Support avg — consistently below neutral (3.0)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858000" y="1801368"/>
            <a:ext cx="2057400" cy="8686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0" y="1801368"/>
            <a:ext cx="73152" cy="8686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95160" y="183794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D5B"/>
                </a:solidFill>
              </a:rPr>
              <a:t>3.71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995160" y="220370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External avg — AMs holding relationships despite outage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858000" y="2825496"/>
            <a:ext cx="2057400" cy="8686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858000" y="2825496"/>
            <a:ext cx="73152" cy="868680"/>
          </a:xfrm>
          <a:prstGeom prst="rect">
            <a:avLst/>
          </a:prstGeom>
          <a:solidFill>
            <a:srgbClr val="48BB78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95160" y="28620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D5B"/>
                </a:solidFill>
              </a:rPr>
              <a:t>4.12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995160" y="322783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Compliance meetings avg — your highest-value conversation type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858000" y="3849624"/>
            <a:ext cx="2057400" cy="8686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58000" y="3849624"/>
            <a:ext cx="73152" cy="868680"/>
          </a:xfrm>
          <a:prstGeom prst="rect">
            <a:avLst/>
          </a:prstGeom>
          <a:solidFill>
            <a:srgbClr val="E07B54"/>
          </a:solidFill>
          <a:ln w="12700">
            <a:solidFill>
              <a:srgbClr val="E07B5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95160" y="38862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D5B"/>
                </a:solidFill>
              </a:rPr>
              <a:t>2.64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995160" y="42519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Incident theme avg — the single biggest sentiment drag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Sentiment Trends Over Time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40233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</a:rPr>
              <a:t>The outage created a visible dip in mid-March; external calls recovered fastest.</a:t>
            </a:r>
            <a:endParaRPr lang="en-US" sz="900" dirty="0"/>
          </a:p>
        </p:txBody>
      </p:sp>
      <p:pic>
        <p:nvPicPr>
          <p:cNvPr id="5" name="Image 0" descr="/Users/ningliu/repo/interview-assignment/outputs/04_sentiment_ov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685800"/>
            <a:ext cx="8595360" cy="4251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091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3E3E"/>
                </a:solidFill>
              </a:rPr>
              <a:t>Outage window: all three call types dip simultaneously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114800" y="47091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E86AB"/>
                </a:solidFill>
              </a:rPr>
              <a:t>External calls recover first — relationship management absorbing the shock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Insight 1: Churn Risk Radar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40233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</a:rPr>
              <a:t>21 of 43 external meetings contain explicit churn signals — tied to outage fallout.</a:t>
            </a:r>
            <a:endParaRPr lang="en-US" sz="900" dirty="0"/>
          </a:p>
        </p:txBody>
      </p:sp>
      <p:pic>
        <p:nvPicPr>
          <p:cNvPr id="5" name="Image 0" descr="/Users/ningliu/repo/interview-assignment/outputs/05_churn_ris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685800"/>
            <a:ext cx="5943600" cy="4251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0" y="777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D5B"/>
                </a:solidFill>
              </a:rPr>
              <a:t>Top At-Risk Accounts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355080" y="1188720"/>
            <a:ext cx="2651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46520" y="12252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Blackridge Investments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772400" y="12252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53E3E"/>
                </a:solidFill>
              </a:rPr>
              <a:t>1.6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355080" y="1627632"/>
            <a:ext cx="2651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46520" y="16642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Cobalt Software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72400" y="16642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53E3E"/>
                </a:solidFill>
              </a:rPr>
              <a:t>1.8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355080" y="2066544"/>
            <a:ext cx="2651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46520" y="21031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Northstar Pharma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772400" y="21031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07B54"/>
                </a:solidFill>
              </a:rPr>
              <a:t>2.1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355080" y="2505456"/>
            <a:ext cx="2651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46520" y="254203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Helix Data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772400" y="254203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07B54"/>
                </a:solidFill>
              </a:rPr>
              <a:t>2.3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355080" y="2944368"/>
            <a:ext cx="2651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46520" y="298094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Meridian Capital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772400" y="29809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07B54"/>
                </a:solidFill>
              </a:rPr>
              <a:t>2.4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55080" y="3383280"/>
            <a:ext cx="2651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46520" y="341985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Quantum Edge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772400" y="34198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07B54"/>
                </a:solidFill>
              </a:rPr>
              <a:t>2.4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355080" y="3822192"/>
            <a:ext cx="2651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46520" y="38587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Summit Trust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772400" y="38587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D8936"/>
                </a:solidFill>
              </a:rPr>
              <a:t>2.4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355080" y="4261104"/>
            <a:ext cx="2651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46520" y="42976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Ironworks Corp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772400" y="42976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D8936"/>
                </a:solidFill>
              </a:rPr>
              <a:t>2.6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400800" y="477316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D5B"/>
                </a:solidFill>
              </a:rPr>
              <a:t>→ Recommendation: Exec outreach to top 5 accounts within 2 weeks.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Insight 2: Speaker Dynamics as a Call Health Signal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40233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</a:rPr>
              <a:t>Talk-time imbalance correlates with lower sentiment — especially in external calls.</a:t>
            </a:r>
            <a:endParaRPr lang="en-US" sz="900" dirty="0"/>
          </a:p>
        </p:txBody>
      </p:sp>
      <p:pic>
        <p:nvPicPr>
          <p:cNvPr id="5" name="Image 0" descr="/Users/ningliu/repo/interview-assignment/outputs/06_speaker_dynam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6858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66560" y="777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D5B"/>
                </a:solidFill>
              </a:rPr>
              <a:t>📊  The Metric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766560" y="105156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Gini coefficient of talk-time share per meeting. 0 = perfectly balanced; 1 = one person monopolizes the call.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766560" y="1783080"/>
            <a:ext cx="2148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66560" y="18470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D5B"/>
                </a:solidFill>
              </a:rPr>
              <a:t>📉  The Finding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766560" y="212140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Higher Gini (more imbalanced) correlates with lower sentiment across all call types. Customers who can't speak feel unheard.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766560" y="2852928"/>
            <a:ext cx="2148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66560" y="29169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D5B"/>
                </a:solidFill>
              </a:rPr>
              <a:t>🎯  Who Cares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766560" y="3191256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Support team leads can use per-rep Gini as a coaching tool. CS managers spot pattern: reps dominating renewal calls correlate with lower renewal rates.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766560" y="3922776"/>
            <a:ext cx="2148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9867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D5B"/>
                </a:solidFill>
              </a:rPr>
              <a:t>⚙️  How to Build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66560" y="4261104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Automate Gini computation per rep per quarter. Flag calls where host talk-share &gt; 70% in external/support calls.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Insight 3: Action Item Load — Who's Carrying the Weight?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40233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</a:rPr>
              <a:t>High AI counts cluster around outage meetings. Three accounts appear in AIs across 5+ meetings each.</a:t>
            </a:r>
            <a:endParaRPr lang="en-US" sz="900" dirty="0"/>
          </a:p>
        </p:txBody>
      </p:sp>
      <p:pic>
        <p:nvPicPr>
          <p:cNvPr id="5" name="Image 0" descr="/Users/ningliu/repo/interview-assignment/outputs/07_action_ite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6858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0" y="8229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D5B"/>
                </a:solidFill>
              </a:rPr>
              <a:t>Key Findings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1261872"/>
            <a:ext cx="256032" cy="256032"/>
          </a:xfrm>
          <a:prstGeom prst="ellipse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0" y="1261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205472" y="12344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Internal incident calls generate 2× more action items than average.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858000" y="2148840"/>
            <a:ext cx="256032" cy="256032"/>
          </a:xfrm>
          <a:prstGeom prst="ellipse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0" y="2148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205472" y="212140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Northstar Pharma, Blackridge, and Meridian Capital appear in AIs across 5+ separate meetings — systemic issues, not one-offs.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858000" y="3035808"/>
            <a:ext cx="256032" cy="256032"/>
          </a:xfrm>
          <a:prstGeom prst="ellipse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58000" y="3035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205472" y="3008376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More action items → lower sentiment. High-burden meetings correlate with stress.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858000" y="3922776"/>
            <a:ext cx="256032" cy="256032"/>
          </a:xfrm>
          <a:prstGeom prst="ellipse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0" y="3922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205472" y="3895344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Tracking AI completion rates per rep or team could surface accountability gaps.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B2D5B"/>
          </a:solidFill>
          <a:ln w="12700">
            <a:solidFill>
              <a:srgbClr val="1B2D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What Else Can We See? — Three More Insight Opportunities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40233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</a:rPr>
              <a:t>Beyond the required tasks — ideas for stakeholders who'd get the most value.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69748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2697480" cy="64008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926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D5B"/>
                </a:solidFill>
              </a:rPr>
              <a:t>Customer Health Score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Composite per-account score combining: sentiment trend (last 30 days) + churn signal count + support ticket volume + days since last positive touchpoint.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Who: CS leadership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Impact: Turns 100 scattered transcripts into one weekly dashboard per account.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27832" y="804672"/>
            <a:ext cx="269748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27832" y="804672"/>
            <a:ext cx="2697480" cy="64008"/>
          </a:xfrm>
          <a:prstGeom prst="rect">
            <a:avLst/>
          </a:prstGeom>
          <a:solidFill>
            <a:srgbClr val="E07B54"/>
          </a:solidFill>
          <a:ln w="12700">
            <a:solidFill>
              <a:srgbClr val="E07B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4992" y="96926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64992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D5B"/>
                </a:solidFill>
              </a:rPr>
              <a:t>Competitive Intelligence Tracker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64992" y="1719072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Extract every competitor mention across transcripts. Track: which product module is cited, call outcome (churned / retained / escalated), mention frequency week-over-week.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Who: Product &amp; Sales leadership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Impact: PM teams get signal months before formal win/loss reports.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804672"/>
            <a:ext cx="269748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804672"/>
            <a:ext cx="2697480" cy="6400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96926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6364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D5B"/>
                </a:solidFill>
              </a:rPr>
              <a:t>Rep Talk-Listen Ratio Coaching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1719072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Per-rep stats: avg talk-time share, Gini per call type, correlation between their Gini and meeting sentiment outcome. Flag reps where high Gini → low sentiment.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Who: Support managers, CS leads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Impact: "Listen more" goes from vague feedback to measurable, coachable behavior.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34747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</a:rPr>
              <a:t>Each of these could be built as a Transcript Intelligence module on top of the existing pipeline, with no new data collection required.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Recommendations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</a:rPr>
              <a:t>Five actions, ranked by urgency: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8412480" cy="68580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3E3E"/>
                </a:solidFill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115214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NOW  ·  Executive outreach to top 5 at-risk accounts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97280" y="142646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Blackridge, Cobalt Software, Northstar Pharma, Helix Data, Meridian Capital — all show active churn signals. Assign a named exec sponsor to each within 2 weeks.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856232"/>
            <a:ext cx="8412480" cy="68580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929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3E3E"/>
                </a:solidFill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191109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NOW  ·  Automate churn signal alerting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97280" y="218541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Pipe key_moments type=churn_signal into a real-time alert for CS teams. This data already exists in the transcript summaries — it just isn't surfaced.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615184"/>
            <a:ext cx="8412480" cy="68580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6883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54"/>
                </a:solidFill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2670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SOON  ·  Double down on the compliance motion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97280" y="294436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33 meetings, avg sentiment 4.12. Compliance (SOC 2, HIPAA, PCI DSS) is your highest-sentiment product area. Sales and CS should lead with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374136"/>
            <a:ext cx="8412480" cy="68580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447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54"/>
                </a:solidFill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3429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SOON  ·  Launch talk-time analytics for rep coaching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97280" y="37033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Use Gini coefficient to identify reps who dominate calls. Correlated with lower customer sentiment — a coaching opportunity backed by data.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4133088"/>
            <a:ext cx="8412480" cy="68580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D8936"/>
                </a:solidFill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97280" y="4187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QUARTER  ·  Build the Customer Health Score dashboard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97280" y="446227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Aggregate per-account sentiment trend + churn signals + support volume into one weekly view for CS leadership. Turns reactive firefighting into proactive management.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E07B54"/>
          </a:solidFill>
          <a:ln w="12700">
            <a:solidFill>
              <a:srgbClr val="E07B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The pipeline is live.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D8EA"/>
                </a:solidFill>
              </a:rPr>
              <a:t>100 transcripts processed. 8 themes identified. 21 at-risk accounts surfaced.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8D8EA"/>
                </a:solidFill>
              </a:rPr>
              <a:t>The infrastructure to run this continuously on every future call is already in place.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4114800" cy="0"/>
          </a:xfrm>
          <a:prstGeom prst="line">
            <a:avLst/>
          </a:prstGeom>
          <a:noFill/>
          <a:ln w="19050">
            <a:solidFill>
              <a:srgbClr val="2E86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Pipeline  ·  Notebook  ·  Slide deck  ·  Video demo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Ning Liu  ·  ningliu365@gmail.com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Transcript Intelligence</dc:title>
  <dc:subject>PptxGenJS Presentation</dc:subject>
  <dc:creator>Ning Liu</dc:creator>
  <cp:lastModifiedBy>Ning Liu</cp:lastModifiedBy>
  <cp:revision>1</cp:revision>
  <dcterms:created xsi:type="dcterms:W3CDTF">2026-05-28T18:21:15Z</dcterms:created>
  <dcterms:modified xsi:type="dcterms:W3CDTF">2026-05-28T18:21:15Z</dcterms:modified>
</cp:coreProperties>
</file>